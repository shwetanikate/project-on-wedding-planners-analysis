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9" r:id="rId14"/>
  </p:sldIdLst>
  <p:sldSz cx="12192000" cy="6858000"/>
  <p:notesSz cx="6858000" cy="9144000"/>
  <p:embeddedFontLst>
    <p:embeddedFont>
      <p:font typeface="Lato Black" panose="020B0604020202020204" charset="0"/>
      <p:bold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ibre Baskerville" panose="020B0604020202020204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021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hweta-nikate-22020233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hwetaNikat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56272"/>
            <a:ext cx="12191408" cy="69564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3201" y="3717986"/>
            <a:ext cx="724618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00" b="1" i="0" u="none" strike="noStrike" cap="none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</a:t>
            </a:r>
            <a:r>
              <a:rPr lang="en-IN" sz="4000" b="1" i="0" u="none" strike="noStrike" cap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edding </a:t>
            </a:r>
            <a:r>
              <a:rPr lang="en-IN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</a:t>
            </a:r>
            <a:r>
              <a:rPr lang="en-IN" sz="4000" b="1" i="0" u="none" strike="noStrike" cap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lanners </a:t>
            </a:r>
            <a:r>
              <a:rPr lang="en-IN" sz="4000" b="1" i="0" u="none" strike="noStrike" cap="none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</a:t>
            </a:r>
            <a:r>
              <a:rPr lang="en-IN" sz="4000" b="1" i="0" u="none" strike="noStrike" cap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nalysis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56074" y="5994995"/>
            <a:ext cx="49377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SzPts val="1800"/>
            </a:pPr>
            <a:r>
              <a:rPr lang="en-US" sz="24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</a:t>
            </a:r>
          </a:p>
          <a:p>
            <a:pPr lvl="0" algn="ctr">
              <a:buSzPts val="1800"/>
            </a:pP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Shweta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Nikate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064982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My name is Shweta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Ravindra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Nikate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I have completed my BE in Ceramics and Cement Technology from PDA Engineering College, Gulbarga, Karnataka.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 am learning Data Analytics because data has become a key factor in decision-making across every industry. </a:t>
            </a:r>
            <a:r>
              <a:rPr lang="en-US" sz="2400" dirty="0" smtClean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helps me to solve real-world business problems, and build a stable, impactful career in a rapidly growing field.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 experience: I worked as a Pre-Sales Executive nearly about 3 years and worked as a Admin &amp; HR executive for about 6 months.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www.linkedin.com/in/shweta-nikate-220202330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4"/>
              </a:rPr>
              <a:t>https://github.com/ShwetaNikate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374351"/>
            <a:ext cx="609946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IN" sz="36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Lato Black"/>
              </a:rPr>
              <a:t>About me</a:t>
            </a:r>
            <a:endParaRPr sz="3600" b="1" dirty="0">
              <a:solidFill>
                <a:srgbClr val="FF0000"/>
              </a:solidFill>
              <a:latin typeface="+mj-lt"/>
              <a:ea typeface="Lato Black"/>
              <a:cs typeface="Lato Black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Objective</a:t>
            </a:r>
            <a:endParaRPr lang="en-IN" sz="36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 analyze data of wedding planners scraped 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WedMeGood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website.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Clean and Structure Raw Web-Scraped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Understand Market Distribution of Wedding Planners.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Evaluate Planners Based on Performance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Explore Relationship Between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Reviews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&amp; Ratings.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Assist Users in Decision Making.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Create Visual Dashboards for Insights.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94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127847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0000"/>
                </a:solidFill>
                <a:ea typeface="Lato Black"/>
                <a:cs typeface="Lato Black"/>
              </a:rPr>
              <a:t>Web Scraping Process</a:t>
            </a:r>
            <a:r>
              <a:rPr lang="en-IN" sz="36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/>
            </a:r>
            <a:br>
              <a:rPr lang="en-IN" sz="36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</a:br>
            <a:endParaRPr lang="en-IN" sz="36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241404" y="1057007"/>
            <a:ext cx="2686931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Selecting Website</a:t>
            </a:r>
            <a:br>
              <a:rPr lang="en-US" dirty="0"/>
            </a:br>
            <a:r>
              <a:rPr lang="en-US" dirty="0"/>
              <a:t>(https://</a:t>
            </a:r>
            <a:r>
              <a:rPr lang="en-US" dirty="0" smtClean="0"/>
              <a:t>www.wedmegood.com)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838201" y="1069893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Sending Request &amp; Fetching Data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838200" y="2236332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Importing Libraries </a:t>
            </a:r>
            <a:br>
              <a:rPr lang="en-US" dirty="0" smtClean="0"/>
            </a:br>
            <a:r>
              <a:rPr lang="en-US" dirty="0" smtClean="0"/>
              <a:t>(Requests, </a:t>
            </a:r>
            <a:r>
              <a:rPr lang="en-US" dirty="0" err="1" smtClean="0"/>
              <a:t>Beautifulsoup</a:t>
            </a:r>
            <a:r>
              <a:rPr lang="en-US" dirty="0" smtClean="0"/>
              <a:t> &amp; Pandas)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838200" y="3402771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Extracting Table Data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838200" y="4561627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Converting Data into </a:t>
            </a:r>
            <a:r>
              <a:rPr lang="en-US" dirty="0" err="1" smtClean="0"/>
              <a:t>DataFrame</a:t>
            </a:r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838200" y="5746877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Cleaning &amp; Formatting Data</a:t>
            </a:r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4241405" y="5804888"/>
            <a:ext cx="2686930" cy="63368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Save &amp; </a:t>
            </a:r>
            <a:r>
              <a:rPr lang="en-US" dirty="0" err="1" smtClean="0"/>
              <a:t>Analyse</a:t>
            </a:r>
            <a:r>
              <a:rPr lang="en-US" dirty="0" smtClean="0"/>
              <a:t> Data</a:t>
            </a:r>
            <a:endParaRPr lang="en-IN" dirty="0"/>
          </a:p>
        </p:txBody>
      </p:sp>
      <p:sp>
        <p:nvSpPr>
          <p:cNvPr id="16" name="Left Arrow 15"/>
          <p:cNvSpPr/>
          <p:nvPr/>
        </p:nvSpPr>
        <p:spPr>
          <a:xfrm>
            <a:off x="3591362" y="1350498"/>
            <a:ext cx="583812" cy="168814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Arrow 16"/>
          <p:cNvSpPr/>
          <p:nvPr/>
        </p:nvSpPr>
        <p:spPr>
          <a:xfrm>
            <a:off x="3591361" y="6037323"/>
            <a:ext cx="583812" cy="16881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own Arrow 17"/>
          <p:cNvSpPr/>
          <p:nvPr/>
        </p:nvSpPr>
        <p:spPr>
          <a:xfrm flipH="1">
            <a:off x="2084942" y="1747409"/>
            <a:ext cx="168813" cy="43853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Down Arrow 18"/>
          <p:cNvSpPr/>
          <p:nvPr/>
        </p:nvSpPr>
        <p:spPr>
          <a:xfrm flipH="1">
            <a:off x="2039228" y="2913334"/>
            <a:ext cx="168813" cy="43853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Down Arrow 19"/>
          <p:cNvSpPr/>
          <p:nvPr/>
        </p:nvSpPr>
        <p:spPr>
          <a:xfrm flipH="1">
            <a:off x="2012852" y="5251826"/>
            <a:ext cx="168813" cy="43853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own Arrow 20"/>
          <p:cNvSpPr/>
          <p:nvPr/>
        </p:nvSpPr>
        <p:spPr>
          <a:xfrm flipH="1">
            <a:off x="2039227" y="4079773"/>
            <a:ext cx="168813" cy="438533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19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116" y="351059"/>
            <a:ext cx="6040902" cy="493004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Before Cleaning the data</a:t>
            </a:r>
            <a:endParaRPr lang="en-IN" sz="28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116" y="3246877"/>
            <a:ext cx="5632939" cy="720212"/>
          </a:xfrm>
        </p:spPr>
        <p:txBody>
          <a:bodyPr>
            <a:noAutofit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en-GB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After Cleaning the data</a:t>
            </a:r>
            <a:endParaRPr lang="en-IN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16" y="1038251"/>
            <a:ext cx="10844393" cy="20144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16" y="3995225"/>
            <a:ext cx="10844393" cy="21076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687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8" y="1552751"/>
            <a:ext cx="5757447" cy="510126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62825" y="1744394"/>
            <a:ext cx="5390974" cy="44325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planners have very high ratings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5.0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are heavily concentrated between 4.8 and 5.0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planners have ratings below 4.5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strong overall service quality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largely satisfied with wedding planners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6322" y="508952"/>
            <a:ext cx="48955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  <a:t>Ratings Distribution</a:t>
            </a:r>
            <a: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  <a:t/>
            </a:r>
            <a:br>
              <a:rPr lang="en-IN" sz="32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Calibri"/>
              </a:rPr>
            </a:br>
            <a:endParaRPr lang="en-IN" sz="3200" b="1" dirty="0">
              <a:solidFill>
                <a:srgbClr val="FF0000"/>
              </a:solidFill>
              <a:latin typeface="+mj-lt"/>
              <a:ea typeface="Lato Black"/>
              <a:cs typeface="Lato Black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167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830" y="-18608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  <a:ea typeface="Lato Black"/>
                <a:cs typeface="Lato Black"/>
                <a:sym typeface="Arial"/>
              </a:rPr>
              <a:t>Price Distribution</a:t>
            </a:r>
            <a:endParaRPr lang="en-IN" sz="2800" b="1" dirty="0">
              <a:solidFill>
                <a:srgbClr val="FF0000"/>
              </a:solidFill>
              <a:latin typeface="+mj-lt"/>
              <a:ea typeface="Lato Black"/>
              <a:cs typeface="Lato Black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2159" y="1659987"/>
            <a:ext cx="6339841" cy="454386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is mostly concentrated in the low-to-mid range (~72%).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portion of planners charge premium prices (~22%).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budget-sensitive market.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prefer affordable planners over premium ones.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moderately priced with limited premium options.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30" y="1027248"/>
            <a:ext cx="5506329" cy="540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0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51" y="-331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City vs Decorators type</a:t>
            </a:r>
            <a:endParaRPr lang="en-IN" sz="28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80295" y="659465"/>
            <a:ext cx="6330570" cy="568604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In-house &amp; outside decorators dominate across all cities, indicating higher flexibility and service variety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Mumbai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number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both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in-house and outside decorators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only in-house decorators are least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common, indicating customer preference for customizable options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 shows strong demand for multi-service decorators.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comparatively fewer decorators overall, but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in-house-only options.</a:t>
            </a:r>
            <a:r>
              <a:rPr lang="en-IN" sz="2400" dirty="0"/>
              <a:t> </a:t>
            </a:r>
            <a:endParaRPr lang="en-IN" sz="2400" dirty="0" smtClean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customers prefer flexible and customizable services, especially in metro cities.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3551"/>
            <a:ext cx="5972017" cy="51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81" y="12499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Reviews vs Ratings</a:t>
            </a:r>
            <a:endParaRPr lang="en-IN" sz="28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751" y="1842071"/>
            <a:ext cx="6913098" cy="3871790"/>
          </a:xfrm>
        </p:spPr>
        <p:txBody>
          <a:bodyPr>
            <a:norm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remain consistently high (4.5–5.0) across all review counts.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vendors have less than 50 reviews, indicating newer or niche planners.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vendors with 100+ reviews stand out as popular and trusted.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appears consistent across the market.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consider both ratings and reviews when selecting planners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555"/>
            <a:ext cx="5131751" cy="46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4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6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Correlation between Planners, City &amp; 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Lato Black"/>
                <a:cs typeface="Lato Black"/>
              </a:rPr>
              <a:t>Ratings</a:t>
            </a:r>
            <a:endParaRPr lang="en-IN" sz="2800" b="1" dirty="0">
              <a:solidFill>
                <a:srgbClr val="FF0000"/>
              </a:solidFill>
              <a:latin typeface="+mj-lt"/>
              <a:ea typeface="Lato Black"/>
              <a:cs typeface="Lato Black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5563"/>
            <a:ext cx="5416062" cy="5280095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6550" y="1808706"/>
            <a:ext cx="6775450" cy="385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top planners have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ratings 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planners exist across all major cities.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dominates the top-rated planners list.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also shows strong competition with multiple top performers.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 has fewer planners in the top 10 but maintains high service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service standards are consistently high across cities.</a:t>
            </a:r>
          </a:p>
        </p:txBody>
      </p:sp>
    </p:spTree>
    <p:extLst>
      <p:ext uri="{BB962C8B-B14F-4D97-AF65-F5344CB8AC3E}">
        <p14:creationId xmlns:p14="http://schemas.microsoft.com/office/powerpoint/2010/main" val="327202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763" y="23851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922239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wedding planner market shows high overall service quality.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planners receive strong customer ratings, indicating satisfaction.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largely budget-friendly, with limited premium pricing.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prefer planners offering flexible and customizable services.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are maintained regardless of review volume.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like Mumbai and Hyderabad lead in top-rated planners.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helps customers make informed planner choices.</a:t>
            </a:r>
          </a:p>
        </p:txBody>
      </p:sp>
    </p:spTree>
    <p:extLst>
      <p:ext uri="{BB962C8B-B14F-4D97-AF65-F5344CB8AC3E}">
        <p14:creationId xmlns:p14="http://schemas.microsoft.com/office/powerpoint/2010/main" val="182843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357" y="10616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Experiences and Challenges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981" y="1431729"/>
            <a:ext cx="10515600" cy="4912800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9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web scraping real-world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work with unstructured and messy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data cleaning, analysis, and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data supports business decision-making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9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9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inconsistent data from web scraping.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text-based fields like prices, ratings, and reviews.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into analysis-ready format.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visualizations for clear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848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9302</TotalTime>
  <Words>560</Words>
  <Application>Microsoft Office PowerPoint</Application>
  <PresentationFormat>Widescreen</PresentationFormat>
  <Paragraphs>83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 New Roman</vt:lpstr>
      <vt:lpstr>Arial</vt:lpstr>
      <vt:lpstr>Lato Black</vt:lpstr>
      <vt:lpstr>Calibri</vt:lpstr>
      <vt:lpstr>Wingdings</vt:lpstr>
      <vt:lpstr>Libre Baskerville</vt:lpstr>
      <vt:lpstr>Office Theme</vt:lpstr>
      <vt:lpstr>PowerPoint Presentation</vt:lpstr>
      <vt:lpstr>PowerPoint Presentation</vt:lpstr>
      <vt:lpstr>Objective</vt:lpstr>
      <vt:lpstr>Web Scraping Process </vt:lpstr>
      <vt:lpstr>Before Cleaning the data</vt:lpstr>
      <vt:lpstr>PowerPoint Presentation</vt:lpstr>
      <vt:lpstr>Price Distribution</vt:lpstr>
      <vt:lpstr>City vs Decorators type</vt:lpstr>
      <vt:lpstr>Reviews vs Ratings</vt:lpstr>
      <vt:lpstr>Correlation between Planners, City &amp; Ratings</vt:lpstr>
      <vt:lpstr>Conclusion</vt:lpstr>
      <vt:lpstr>Experiences and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69</cp:revision>
  <dcterms:created xsi:type="dcterms:W3CDTF">2021-02-16T05:19:01Z</dcterms:created>
  <dcterms:modified xsi:type="dcterms:W3CDTF">2025-12-31T06:53:15Z</dcterms:modified>
</cp:coreProperties>
</file>